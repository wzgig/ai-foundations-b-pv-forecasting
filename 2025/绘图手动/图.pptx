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1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DEEAF6"/>
    <a:srgbClr val="9DC3E6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>
        <p:scale>
          <a:sx n="125" d="100"/>
          <a:sy n="125" d="100"/>
        </p:scale>
        <p:origin x="102" y="-168"/>
      </p:cViewPr>
      <p:guideLst>
        <p:guide orient="horz" pos="2159"/>
        <p:guide pos="381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2025/5/25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image" Target="../media/image28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image" Target="../media/image27.png"/><Relationship Id="rId5" Type="http://schemas.openxmlformats.org/officeDocument/2006/relationships/tags" Target="../tags/tag75.xml"/><Relationship Id="rId10" Type="http://schemas.openxmlformats.org/officeDocument/2006/relationships/image" Target="../media/image26.png"/><Relationship Id="rId4" Type="http://schemas.openxmlformats.org/officeDocument/2006/relationships/tags" Target="../tags/tag74.xml"/><Relationship Id="rId9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image" Target="../media/image40.pn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image" Target="../media/image39.png"/><Relationship Id="rId5" Type="http://schemas.openxmlformats.org/officeDocument/2006/relationships/tags" Target="../tags/tag86.xml"/><Relationship Id="rId10" Type="http://schemas.openxmlformats.org/officeDocument/2006/relationships/image" Target="../media/image38.png"/><Relationship Id="rId4" Type="http://schemas.openxmlformats.org/officeDocument/2006/relationships/tags" Target="../tags/tag85.xml"/><Relationship Id="rId9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三模型每日预测对比图(白昼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6025" y="2729230"/>
            <a:ext cx="5931535" cy="2966085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0" y="-199390"/>
            <a:ext cx="5859780" cy="6631305"/>
            <a:chOff x="0" y="117"/>
            <a:chExt cx="11632" cy="14632"/>
          </a:xfrm>
        </p:grpSpPr>
        <p:pic>
          <p:nvPicPr>
            <p:cNvPr id="9" name="图片 8" descr="1.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17"/>
              <a:ext cx="11632" cy="4847"/>
            </a:xfrm>
            <a:prstGeom prst="rect">
              <a:avLst/>
            </a:prstGeom>
          </p:spPr>
        </p:pic>
        <p:pic>
          <p:nvPicPr>
            <p:cNvPr id="10" name="图片 9" descr="2.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4964"/>
              <a:ext cx="11632" cy="4848"/>
            </a:xfrm>
            <a:prstGeom prst="rect">
              <a:avLst/>
            </a:prstGeom>
          </p:spPr>
        </p:pic>
        <p:pic>
          <p:nvPicPr>
            <p:cNvPr id="11" name="图片 10" descr="3.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9902"/>
              <a:ext cx="11632" cy="4847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3726" y="154"/>
              <a:ext cx="4445" cy="343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PureLSTM</a:t>
              </a:r>
              <a:endParaRPr lang="zh-CN" altLang="en-US" sz="12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042" y="4964"/>
              <a:ext cx="6400" cy="381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FusionMode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153" y="9871"/>
              <a:ext cx="6400" cy="404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BiFusionModel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763270" y="171590"/>
            <a:ext cx="7365365" cy="8113158"/>
            <a:chOff x="0" y="-911"/>
            <a:chExt cx="13214" cy="15085"/>
          </a:xfrm>
        </p:grpSpPr>
        <p:sp>
          <p:nvSpPr>
            <p:cNvPr id="12" name="文本框 11"/>
            <p:cNvSpPr txBox="1"/>
            <p:nvPr/>
          </p:nvSpPr>
          <p:spPr>
            <a:xfrm>
              <a:off x="0" y="-911"/>
              <a:ext cx="12998" cy="466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t" anchorCtr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                </a:t>
              </a:r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   PureLSTM</a:t>
              </a:r>
              <a:endParaRPr lang="zh-CN" altLang="en-US" sz="12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0" y="4029"/>
              <a:ext cx="12996" cy="5137"/>
              <a:chOff x="-81" y="5050"/>
              <a:chExt cx="12996" cy="5137"/>
            </a:xfrm>
          </p:grpSpPr>
          <p:pic>
            <p:nvPicPr>
              <p:cNvPr id="5" name="图片 4" descr="2.2"/>
              <p:cNvPicPr>
                <a:picLocks noChangeAspect="1"/>
              </p:cNvPicPr>
              <p:nvPr/>
            </p:nvPicPr>
            <p:blipFill>
              <a:blip r:embed="rId3"/>
              <a:srcRect l="1381" t="4257" r="558"/>
              <a:stretch>
                <a:fillRect/>
              </a:stretch>
            </p:blipFill>
            <p:spPr>
              <a:xfrm>
                <a:off x="-81" y="5173"/>
                <a:ext cx="12997" cy="5015"/>
              </a:xfrm>
              <a:prstGeom prst="rect">
                <a:avLst/>
              </a:prstGeom>
            </p:spPr>
          </p:pic>
          <p:sp>
            <p:nvSpPr>
              <p:cNvPr id="17" name="文本框 16"/>
              <p:cNvSpPr txBox="1"/>
              <p:nvPr/>
            </p:nvSpPr>
            <p:spPr>
              <a:xfrm>
                <a:off x="4064" y="5050"/>
                <a:ext cx="6400" cy="43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</p:spPr>
            <p:txBody>
              <a:bodyPr wrap="square" rtlCol="0" anchor="t" anchorCtr="0">
                <a:noAutofit/>
              </a:bodyPr>
              <a:lstStyle/>
              <a:p>
                <a:pPr algn="ctr"/>
                <a:r>
                  <a:rPr lang="en-US" altLang="zh-CN" sz="1200">
                    <a:latin typeface="Times New Roman" panose="02020603050405020304" charset="0"/>
                    <a:cs typeface="Times New Roman" panose="02020603050405020304" charset="0"/>
                  </a:rPr>
                  <a:t>FusionMode</a:t>
                </a: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0" y="-445"/>
              <a:ext cx="13214" cy="14619"/>
              <a:chOff x="0" y="-445"/>
              <a:chExt cx="13214" cy="14619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0" y="9012"/>
                <a:ext cx="13214" cy="5163"/>
                <a:chOff x="68" y="10029"/>
                <a:chExt cx="13214" cy="5163"/>
              </a:xfrm>
            </p:grpSpPr>
            <p:pic>
              <p:nvPicPr>
                <p:cNvPr id="9" name="图片 8" descr="3.2"/>
                <p:cNvPicPr>
                  <a:picLocks noChangeAspect="1"/>
                </p:cNvPicPr>
                <p:nvPr/>
              </p:nvPicPr>
              <p:blipFill>
                <a:blip r:embed="rId4"/>
                <a:srcRect t="7842" r="-624"/>
                <a:stretch>
                  <a:fillRect/>
                </a:stretch>
              </p:blipFill>
              <p:spPr>
                <a:xfrm>
                  <a:off x="68" y="10350"/>
                  <a:ext cx="13214" cy="4842"/>
                </a:xfrm>
                <a:prstGeom prst="rect">
                  <a:avLst/>
                </a:prstGeom>
              </p:spPr>
            </p:pic>
            <p:sp>
              <p:nvSpPr>
                <p:cNvPr id="19" name="文本框 18"/>
                <p:cNvSpPr txBox="1"/>
                <p:nvPr/>
              </p:nvSpPr>
              <p:spPr>
                <a:xfrm>
                  <a:off x="4145" y="10029"/>
                  <a:ext cx="6400" cy="40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</p:spPr>
              <p:txBody>
                <a:bodyPr wrap="square" rtlCol="0" anchor="t" anchorCtr="0">
                  <a:noAutofit/>
                </a:bodyPr>
                <a:lstStyle/>
                <a:p>
                  <a:pPr algn="ctr"/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</a:rPr>
                    <a:t>BiFusionModel</a:t>
                  </a:r>
                </a:p>
              </p:txBody>
            </p:sp>
          </p:grpSp>
          <p:pic>
            <p:nvPicPr>
              <p:cNvPr id="16" name="内容占位符 14" descr="1.2"/>
              <p:cNvPicPr>
                <a:picLocks noChangeAspect="1"/>
              </p:cNvPicPr>
              <p:nvPr/>
            </p:nvPicPr>
            <p:blipFill>
              <a:blip r:embed="rId5"/>
              <a:srcRect t="9845" r="1246" b="4626"/>
              <a:stretch>
                <a:fillRect/>
              </a:stretch>
            </p:blipFill>
            <p:spPr>
              <a:xfrm>
                <a:off x="0" y="-445"/>
                <a:ext cx="12997" cy="4474"/>
              </a:xfrm>
              <a:prstGeom prst="rect">
                <a:avLst/>
              </a:prstGeom>
            </p:spPr>
          </p:pic>
        </p:grp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402590" y="-409"/>
            <a:ext cx="8813528" cy="3299642"/>
            <a:chOff x="-940" y="-71"/>
            <a:chExt cx="24263" cy="8074"/>
          </a:xfrm>
        </p:grpSpPr>
        <p:pic>
          <p:nvPicPr>
            <p:cNvPr id="4" name="图片 3" descr="1.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940" y="-70"/>
              <a:ext cx="8045" cy="8045"/>
            </a:xfrm>
            <a:prstGeom prst="rect">
              <a:avLst/>
            </a:prstGeom>
          </p:spPr>
        </p:pic>
        <p:pic>
          <p:nvPicPr>
            <p:cNvPr id="5" name="图片 4" descr="2.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05" y="-70"/>
              <a:ext cx="8044" cy="8044"/>
            </a:xfrm>
            <a:prstGeom prst="rect">
              <a:avLst/>
            </a:prstGeom>
          </p:spPr>
        </p:pic>
        <p:pic>
          <p:nvPicPr>
            <p:cNvPr id="6" name="图片 5" descr="3.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250" y="-70"/>
              <a:ext cx="8073" cy="8073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-389" y="-69"/>
              <a:ext cx="6270" cy="535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ctr" anchorCtr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    </a:t>
              </a:r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  PureLSTM</a:t>
              </a:r>
              <a:endParaRPr lang="zh-CN" altLang="en-US" sz="12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302" y="-71"/>
              <a:ext cx="6400" cy="536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FusionMode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6462" y="-68"/>
              <a:ext cx="6400" cy="531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BiFusionModel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635" y="187325"/>
            <a:ext cx="5720715" cy="7186130"/>
            <a:chOff x="-1" y="0"/>
            <a:chExt cx="12471" cy="15304"/>
          </a:xfrm>
        </p:grpSpPr>
        <p:pic>
          <p:nvPicPr>
            <p:cNvPr id="4" name="图片 3" descr="1.4"/>
            <p:cNvPicPr>
              <a:picLocks noChangeAspect="1"/>
            </p:cNvPicPr>
            <p:nvPr/>
          </p:nvPicPr>
          <p:blipFill>
            <a:blip r:embed="rId3"/>
            <a:srcRect b="4287"/>
            <a:stretch>
              <a:fillRect/>
            </a:stretch>
          </p:blipFill>
          <p:spPr>
            <a:xfrm>
              <a:off x="0" y="0"/>
              <a:ext cx="12470" cy="5115"/>
            </a:xfrm>
            <a:prstGeom prst="rect">
              <a:avLst/>
            </a:prstGeom>
          </p:spPr>
        </p:pic>
        <p:pic>
          <p:nvPicPr>
            <p:cNvPr id="8" name="图片 7" descr="2.4"/>
            <p:cNvPicPr>
              <a:picLocks noChangeAspect="1"/>
            </p:cNvPicPr>
            <p:nvPr/>
          </p:nvPicPr>
          <p:blipFill>
            <a:blip r:embed="rId4"/>
            <a:srcRect l="8" t="3574" r="601"/>
            <a:stretch>
              <a:fillRect/>
            </a:stretch>
          </p:blipFill>
          <p:spPr>
            <a:xfrm>
              <a:off x="-1" y="5115"/>
              <a:ext cx="12394" cy="5153"/>
            </a:xfrm>
            <a:prstGeom prst="rect">
              <a:avLst/>
            </a:prstGeom>
          </p:spPr>
        </p:pic>
        <p:pic>
          <p:nvPicPr>
            <p:cNvPr id="9" name="图片 8" descr="3.4"/>
            <p:cNvPicPr>
              <a:picLocks noChangeAspect="1"/>
            </p:cNvPicPr>
            <p:nvPr/>
          </p:nvPicPr>
          <p:blipFill>
            <a:blip r:embed="rId5"/>
            <a:srcRect t="1759"/>
            <a:stretch>
              <a:fillRect/>
            </a:stretch>
          </p:blipFill>
          <p:spPr>
            <a:xfrm>
              <a:off x="-1" y="10055"/>
              <a:ext cx="12469" cy="5249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3894" y="52"/>
              <a:ext cx="4777" cy="411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ctr" anchorCtr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400" dirty="0">
                  <a:latin typeface="Times New Roman" panose="02020603050405020304" charset="0"/>
                  <a:cs typeface="Times New Roman" panose="02020603050405020304" charset="0"/>
                </a:rPr>
                <a:t>  </a:t>
              </a:r>
              <a:r>
                <a:rPr lang="en-US" altLang="zh-CN" sz="1200" dirty="0" err="1">
                  <a:latin typeface="Times New Roman" panose="02020603050405020304" charset="0"/>
                  <a:cs typeface="Times New Roman" panose="02020603050405020304" charset="0"/>
                </a:rPr>
                <a:t>PureLSTM</a:t>
              </a:r>
              <a:endParaRPr lang="zh-CN" altLang="en-US" sz="120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894" y="5116"/>
              <a:ext cx="4876" cy="314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FusionMode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083" y="10055"/>
              <a:ext cx="6400" cy="317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t" anchorCtr="0">
              <a:noAutofit/>
            </a:bodyPr>
            <a:lstStyle/>
            <a:p>
              <a:pPr algn="ctr"/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BiFusionModel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238125" y="-245110"/>
            <a:ext cx="5536565" cy="8494395"/>
            <a:chOff x="-81" y="-1392"/>
            <a:chExt cx="9021" cy="13904"/>
          </a:xfrm>
        </p:grpSpPr>
        <p:grpSp>
          <p:nvGrpSpPr>
            <p:cNvPr id="8" name="组合 7"/>
            <p:cNvGrpSpPr/>
            <p:nvPr/>
          </p:nvGrpSpPr>
          <p:grpSpPr>
            <a:xfrm>
              <a:off x="-80" y="3256"/>
              <a:ext cx="9020" cy="9257"/>
              <a:chOff x="0" y="3141"/>
              <a:chExt cx="9020" cy="9257"/>
            </a:xfrm>
          </p:grpSpPr>
          <p:pic>
            <p:nvPicPr>
              <p:cNvPr id="4" name="图片 3" descr="3.5"/>
              <p:cNvPicPr>
                <a:picLocks noChangeAspect="1"/>
              </p:cNvPicPr>
              <p:nvPr/>
            </p:nvPicPr>
            <p:blipFill>
              <a:blip r:embed="rId3"/>
              <a:srcRect l="48174" b="64537"/>
              <a:stretch>
                <a:fillRect/>
              </a:stretch>
            </p:blipFill>
            <p:spPr>
              <a:xfrm>
                <a:off x="0" y="3141"/>
                <a:ext cx="9019" cy="4629"/>
              </a:xfrm>
              <a:prstGeom prst="rect">
                <a:avLst/>
              </a:prstGeom>
            </p:spPr>
          </p:pic>
          <p:pic>
            <p:nvPicPr>
              <p:cNvPr id="5" name="图片 4" descr="2.5"/>
              <p:cNvPicPr>
                <a:picLocks noChangeAspect="1"/>
              </p:cNvPicPr>
              <p:nvPr/>
            </p:nvPicPr>
            <p:blipFill>
              <a:blip r:embed="rId4"/>
              <a:srcRect l="48194" b="65056"/>
              <a:stretch>
                <a:fillRect/>
              </a:stretch>
            </p:blipFill>
            <p:spPr>
              <a:xfrm>
                <a:off x="0" y="7885"/>
                <a:ext cx="9020" cy="4513"/>
              </a:xfrm>
              <a:prstGeom prst="rect">
                <a:avLst/>
              </a:prstGeom>
            </p:spPr>
          </p:pic>
          <p:sp>
            <p:nvSpPr>
              <p:cNvPr id="6" name="文本框 5"/>
              <p:cNvSpPr txBox="1"/>
              <p:nvPr/>
            </p:nvSpPr>
            <p:spPr>
              <a:xfrm>
                <a:off x="1890" y="3141"/>
                <a:ext cx="4905" cy="455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12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FusionMode</a:t>
                </a:r>
                <a:r>
                  <a:rPr lang="zh-CN" altLang="en-US" sz="12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误差时间分布模式</a:t>
                </a:r>
                <a:r>
                  <a:rPr lang="en-US" altLang="zh-CN" sz="12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zh-CN" altLang="en-US" sz="12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前</a:t>
                </a:r>
                <a:r>
                  <a:rPr lang="en-US" altLang="zh-CN" sz="12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28</a:t>
                </a:r>
                <a:r>
                  <a:rPr lang="zh-CN" altLang="en-US" sz="12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天</a:t>
                </a:r>
                <a:r>
                  <a:rPr lang="en-US" altLang="zh-CN" sz="12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1490" y="7886"/>
                <a:ext cx="5535" cy="455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12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BiFusionModel</a:t>
                </a:r>
                <a:r>
                  <a:rPr lang="zh-CN" altLang="en-US" sz="12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误差时间分布模式</a:t>
                </a:r>
                <a:r>
                  <a:rPr lang="en-US" altLang="zh-CN" sz="12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(</a:t>
                </a:r>
                <a:r>
                  <a:rPr lang="zh-CN" altLang="en-US" sz="12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前</a:t>
                </a:r>
                <a:r>
                  <a:rPr lang="en-US" altLang="zh-CN" sz="12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28</a:t>
                </a:r>
                <a:r>
                  <a:rPr lang="zh-CN" altLang="en-US" sz="12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天</a:t>
                </a:r>
                <a:r>
                  <a:rPr lang="en-US" altLang="zh-CN" sz="12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)</a:t>
                </a:r>
              </a:p>
            </p:txBody>
          </p:sp>
        </p:grpSp>
        <p:pic>
          <p:nvPicPr>
            <p:cNvPr id="9" name="图片 8" descr="1.5"/>
            <p:cNvPicPr>
              <a:picLocks noChangeAspect="1"/>
            </p:cNvPicPr>
            <p:nvPr/>
          </p:nvPicPr>
          <p:blipFill>
            <a:blip r:embed="rId5"/>
            <a:srcRect l="48167" b="64861"/>
            <a:stretch>
              <a:fillRect/>
            </a:stretch>
          </p:blipFill>
          <p:spPr>
            <a:xfrm>
              <a:off x="-81" y="-1392"/>
              <a:ext cx="9020" cy="4586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2040" y="-1392"/>
              <a:ext cx="4905" cy="455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PureLSTM</a:t>
              </a:r>
              <a:r>
                <a:rPr lang="zh-CN" altLang="en-US" sz="12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误差时间分布模式</a:t>
              </a:r>
              <a:r>
                <a:rPr lang="en-US" altLang="zh-CN" sz="12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2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前</a:t>
              </a:r>
              <a:r>
                <a:rPr lang="en-US" altLang="zh-CN" sz="12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28</a:t>
              </a:r>
              <a:r>
                <a:rPr lang="zh-CN" altLang="en-US" sz="12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天</a:t>
              </a:r>
              <a:r>
                <a:rPr lang="en-US" altLang="zh-CN" sz="12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 52">
            <a:extLst>
              <a:ext uri="{FF2B5EF4-FFF2-40B4-BE49-F238E27FC236}">
                <a16:creationId xmlns:a16="http://schemas.microsoft.com/office/drawing/2014/main" id="{949E61ED-4D93-9117-1E91-AC608BD3DAC0}"/>
              </a:ext>
            </a:extLst>
          </p:cNvPr>
          <p:cNvGrpSpPr/>
          <p:nvPr/>
        </p:nvGrpSpPr>
        <p:grpSpPr>
          <a:xfrm>
            <a:off x="276860" y="117027"/>
            <a:ext cx="7101840" cy="5295265"/>
            <a:chOff x="276860" y="117027"/>
            <a:chExt cx="7101840" cy="5295265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F24608F-371C-6F5E-C066-97B15E577638}"/>
                </a:ext>
              </a:extLst>
            </p:cNvPr>
            <p:cNvGrpSpPr/>
            <p:nvPr/>
          </p:nvGrpSpPr>
          <p:grpSpPr>
            <a:xfrm>
              <a:off x="276860" y="117027"/>
              <a:ext cx="7101840" cy="5295265"/>
              <a:chOff x="276860" y="117027"/>
              <a:chExt cx="7101840" cy="5295265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276860" y="117027"/>
                <a:ext cx="7101840" cy="5295265"/>
                <a:chOff x="3104" y="1838"/>
                <a:chExt cx="15913" cy="13863"/>
              </a:xfrm>
            </p:grpSpPr>
            <p:pic>
              <p:nvPicPr>
                <p:cNvPr id="5" name="图片 4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04" y="1838"/>
                  <a:ext cx="15913" cy="13863"/>
                </a:xfrm>
                <a:prstGeom prst="rect">
                  <a:avLst/>
                </a:prstGeom>
              </p:spPr>
            </p:pic>
            <p:sp>
              <p:nvSpPr>
                <p:cNvPr id="6" name="文本框 5"/>
                <p:cNvSpPr txBox="1"/>
                <p:nvPr/>
              </p:nvSpPr>
              <p:spPr>
                <a:xfrm>
                  <a:off x="16913" y="1838"/>
                  <a:ext cx="2104" cy="324"/>
                </a:xfrm>
                <a:prstGeom prst="rect">
                  <a:avLst/>
                </a:prstGeom>
                <a:solidFill>
                  <a:srgbClr val="9DC3E6"/>
                </a:solidFill>
                <a:ln>
                  <a:solidFill>
                    <a:srgbClr val="9DC3E6"/>
                  </a:solidFill>
                </a:ln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14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 </a:t>
                  </a:r>
                  <a:r>
                    <a:rPr lang="zh-CN" altLang="en-US" sz="14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云核心</a:t>
                  </a:r>
                </a:p>
              </p:txBody>
            </p:sp>
            <p:sp>
              <p:nvSpPr>
                <p:cNvPr id="7" name="文本框 6"/>
                <p:cNvSpPr txBox="1"/>
                <p:nvPr/>
              </p:nvSpPr>
              <p:spPr>
                <a:xfrm>
                  <a:off x="13272" y="3539"/>
                  <a:ext cx="1372" cy="325"/>
                </a:xfrm>
                <a:prstGeom prst="rect">
                  <a:avLst/>
                </a:prstGeom>
                <a:solidFill>
                  <a:srgbClr val="9DC3E6"/>
                </a:solidFill>
              </p:spPr>
              <p:txBody>
                <a:bodyPr wrap="square" rtlCol="0">
                  <a:noAutofit/>
                </a:bodyPr>
                <a:lstStyle/>
                <a:p>
                  <a:endPara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" name="文本框 7"/>
                <p:cNvSpPr txBox="1"/>
                <p:nvPr/>
              </p:nvSpPr>
              <p:spPr>
                <a:xfrm>
                  <a:off x="15338" y="3347"/>
                  <a:ext cx="2941" cy="517"/>
                </a:xfrm>
                <a:prstGeom prst="rect">
                  <a:avLst/>
                </a:prstGeom>
                <a:solidFill>
                  <a:srgbClr val="9DC3E6"/>
                </a:solidFill>
                <a:ln>
                  <a:solidFill>
                    <a:srgbClr val="9DC3E6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zh-CN" altLang="en-US" sz="12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远程监控平台</a:t>
                  </a:r>
                </a:p>
              </p:txBody>
            </p:sp>
            <p:sp>
              <p:nvSpPr>
                <p:cNvPr id="9" name="文本框 8"/>
                <p:cNvSpPr txBox="1"/>
                <p:nvPr/>
              </p:nvSpPr>
              <p:spPr>
                <a:xfrm>
                  <a:off x="11213" y="4415"/>
                  <a:ext cx="3547" cy="535"/>
                </a:xfrm>
                <a:prstGeom prst="rect">
                  <a:avLst/>
                </a:prstGeom>
                <a:solidFill>
                  <a:srgbClr val="DEEAF6"/>
                </a:solidFill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zh-CN" altLang="en-US" sz="14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网络管理系统</a:t>
                  </a:r>
                </a:p>
              </p:txBody>
            </p:sp>
            <p:sp>
              <p:nvSpPr>
                <p:cNvPr id="10" name="文本框 9"/>
                <p:cNvSpPr txBox="1"/>
                <p:nvPr/>
              </p:nvSpPr>
              <p:spPr>
                <a:xfrm>
                  <a:off x="15338" y="4445"/>
                  <a:ext cx="2653" cy="505"/>
                </a:xfrm>
                <a:prstGeom prst="rect">
                  <a:avLst/>
                </a:prstGeom>
                <a:solidFill>
                  <a:srgbClr val="DEEAF6"/>
                </a:solidFill>
                <a:ln>
                  <a:solidFill>
                    <a:srgbClr val="DEEAF6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1300" b="1">
                      <a:latin typeface="宋体" panose="02010600030101010101" pitchFamily="2" charset="-122"/>
                      <a:ea typeface="宋体" panose="02010600030101010101" pitchFamily="2" charset="-122"/>
                    </a:rPr>
                    <a:t> </a:t>
                  </a:r>
                  <a:r>
                    <a:rPr lang="zh-CN" altLang="en-US" sz="1300" b="1">
                      <a:latin typeface="宋体" panose="02010600030101010101" pitchFamily="2" charset="-122"/>
                      <a:ea typeface="宋体" panose="02010600030101010101" pitchFamily="2" charset="-122"/>
                    </a:rPr>
                    <a:t>电力监控系统</a:t>
                  </a:r>
                </a:p>
              </p:txBody>
            </p:sp>
            <p:sp>
              <p:nvSpPr>
                <p:cNvPr id="13" name="文本框 12"/>
                <p:cNvSpPr txBox="1"/>
                <p:nvPr/>
              </p:nvSpPr>
              <p:spPr>
                <a:xfrm>
                  <a:off x="10738" y="5178"/>
                  <a:ext cx="1178" cy="1136"/>
                </a:xfrm>
                <a:prstGeom prst="rect">
                  <a:avLst/>
                </a:prstGeom>
                <a:solidFill>
                  <a:srgbClr val="DEEAF6"/>
                </a:solidFill>
                <a:ln>
                  <a:solidFill>
                    <a:srgbClr val="DEEAF6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endParaRPr lang="zh-CN" altLang="en-US" sz="1200" b="1" dirty="0">
                    <a:latin typeface="+mn-ea"/>
                  </a:endParaRPr>
                </a:p>
              </p:txBody>
            </p:sp>
            <p:sp>
              <p:nvSpPr>
                <p:cNvPr id="14" name="文本框 13"/>
                <p:cNvSpPr txBox="1"/>
                <p:nvPr/>
              </p:nvSpPr>
              <p:spPr>
                <a:xfrm>
                  <a:off x="6323" y="4242"/>
                  <a:ext cx="2140" cy="708"/>
                </a:xfrm>
                <a:prstGeom prst="rect">
                  <a:avLst/>
                </a:prstGeom>
                <a:solidFill>
                  <a:srgbClr val="DEEAF6"/>
                </a:solidFill>
                <a:ln>
                  <a:solidFill>
                    <a:srgbClr val="DEEAF6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pPr algn="l"/>
                  <a:r>
                    <a:rPr lang="zh-CN" altLang="en-US" sz="1200" b="1" dirty="0">
                      <a:latin typeface="宋体" panose="02010600030101010101" pitchFamily="2" charset="-122"/>
                      <a:ea typeface="宋体" panose="02010600030101010101" pitchFamily="2" charset="-122"/>
                      <a:cs typeface="宋体" panose="02010600030101010101" pitchFamily="2" charset="-122"/>
                    </a:rPr>
                    <a:t>监控平台</a:t>
                  </a:r>
                </a:p>
              </p:txBody>
            </p:sp>
            <p:sp>
              <p:nvSpPr>
                <p:cNvPr id="20" name="文本框 19"/>
                <p:cNvSpPr txBox="1"/>
                <p:nvPr/>
              </p:nvSpPr>
              <p:spPr>
                <a:xfrm>
                  <a:off x="14036" y="14004"/>
                  <a:ext cx="1723" cy="309"/>
                </a:xfrm>
                <a:prstGeom prst="rect">
                  <a:avLst/>
                </a:prstGeom>
                <a:solidFill>
                  <a:srgbClr val="BFBFBF"/>
                </a:solidFill>
                <a:ln>
                  <a:solidFill>
                    <a:srgbClr val="BFBFBF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zh-CN" altLang="en-US" sz="1400" b="1">
                      <a:latin typeface="宋体" panose="02010600030101010101" pitchFamily="2" charset="-122"/>
                      <a:ea typeface="宋体" panose="02010600030101010101" pitchFamily="2" charset="-122"/>
                      <a:cs typeface="宋体" panose="02010600030101010101" pitchFamily="2" charset="-122"/>
                    </a:rPr>
                    <a:t>监控设备</a:t>
                  </a:r>
                </a:p>
              </p:txBody>
            </p:sp>
            <p:sp>
              <p:nvSpPr>
                <p:cNvPr id="21" name="文本框 20"/>
                <p:cNvSpPr txBox="1"/>
                <p:nvPr/>
              </p:nvSpPr>
              <p:spPr>
                <a:xfrm>
                  <a:off x="7329" y="13572"/>
                  <a:ext cx="1330" cy="708"/>
                </a:xfrm>
                <a:prstGeom prst="rect">
                  <a:avLst/>
                </a:prstGeom>
                <a:solidFill>
                  <a:srgbClr val="BFBFBF"/>
                </a:solidFill>
                <a:ln>
                  <a:solidFill>
                    <a:srgbClr val="BFBFBF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pPr algn="ctr"/>
                  <a:endParaRPr lang="zh-CN" altLang="en-US" sz="1100" b="1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16092" y="12201"/>
                  <a:ext cx="1330" cy="1857"/>
                </a:xfrm>
                <a:prstGeom prst="rect">
                  <a:avLst/>
                </a:prstGeom>
                <a:solidFill>
                  <a:srgbClr val="BFBFBF"/>
                </a:solidFill>
                <a:ln>
                  <a:solidFill>
                    <a:srgbClr val="BFBFBF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zh-CN" altLang="en-US" sz="1400" b="1" dirty="0">
                      <a:latin typeface="宋体" panose="02010600030101010101" pitchFamily="2" charset="-122"/>
                      <a:ea typeface="宋体" panose="02010600030101010101" pitchFamily="2" charset="-122"/>
                      <a:cs typeface="宋体" panose="02010600030101010101" pitchFamily="2" charset="-122"/>
                    </a:rPr>
                    <a:t>以太网交换器</a:t>
                  </a:r>
                </a:p>
              </p:txBody>
            </p:sp>
            <p:sp>
              <p:nvSpPr>
                <p:cNvPr id="27" name="文本框 26"/>
                <p:cNvSpPr txBox="1"/>
                <p:nvPr/>
              </p:nvSpPr>
              <p:spPr>
                <a:xfrm>
                  <a:off x="5677" y="12101"/>
                  <a:ext cx="1330" cy="2057"/>
                </a:xfrm>
                <a:prstGeom prst="rect">
                  <a:avLst/>
                </a:prstGeom>
                <a:solidFill>
                  <a:srgbClr val="BFBFBF"/>
                </a:solidFill>
                <a:ln>
                  <a:solidFill>
                    <a:srgbClr val="BFBFBF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zh-CN" altLang="en-US" sz="1200" b="1" dirty="0">
                      <a:latin typeface="宋体" panose="02010600030101010101" pitchFamily="2" charset="-122"/>
                      <a:ea typeface="宋体" panose="02010600030101010101" pitchFamily="2" charset="-122"/>
                      <a:cs typeface="宋体" panose="02010600030101010101" pitchFamily="2" charset="-122"/>
                    </a:rPr>
                    <a:t>以太网交换器</a:t>
                  </a:r>
                </a:p>
              </p:txBody>
            </p:sp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D51FC557-FDEC-DE31-5916-331EC08F6246}"/>
                    </a:ext>
                  </a:extLst>
                </p:cNvPr>
                <p:cNvSpPr txBox="1"/>
                <p:nvPr/>
              </p:nvSpPr>
              <p:spPr>
                <a:xfrm>
                  <a:off x="9484" y="14762"/>
                  <a:ext cx="1576" cy="725"/>
                </a:xfrm>
                <a:prstGeom prst="rect">
                  <a:avLst/>
                </a:prstGeom>
                <a:solidFill>
                  <a:srgbClr val="BFBFBF"/>
                </a:solidFill>
                <a:ln>
                  <a:solidFill>
                    <a:srgbClr val="BFBFBF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pPr algn="ctr"/>
                  <a:endParaRPr lang="zh-CN" altLang="en-US" sz="1100" b="1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D6EFE63-F9B8-ED49-71B0-65A9226C5591}"/>
                    </a:ext>
                  </a:extLst>
                </p:cNvPr>
                <p:cNvSpPr txBox="1"/>
                <p:nvPr/>
              </p:nvSpPr>
              <p:spPr>
                <a:xfrm>
                  <a:off x="11060" y="11305"/>
                  <a:ext cx="1576" cy="309"/>
                </a:xfrm>
                <a:prstGeom prst="rect">
                  <a:avLst/>
                </a:prstGeom>
                <a:solidFill>
                  <a:srgbClr val="BFBFBF"/>
                </a:solidFill>
                <a:ln>
                  <a:solidFill>
                    <a:srgbClr val="BFBFBF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pPr algn="ctr"/>
                  <a:endParaRPr lang="zh-CN" altLang="en-US" sz="1100" b="1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462B90DA-EAC4-4801-ED9F-A3EFDBC15766}"/>
                    </a:ext>
                  </a:extLst>
                </p:cNvPr>
                <p:cNvSpPr txBox="1"/>
                <p:nvPr/>
              </p:nvSpPr>
              <p:spPr>
                <a:xfrm>
                  <a:off x="11128" y="13572"/>
                  <a:ext cx="1576" cy="309"/>
                </a:xfrm>
                <a:prstGeom prst="rect">
                  <a:avLst/>
                </a:prstGeom>
                <a:solidFill>
                  <a:srgbClr val="BFBFBF"/>
                </a:solidFill>
                <a:ln>
                  <a:solidFill>
                    <a:srgbClr val="BFBFBF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pPr algn="ctr"/>
                  <a:endParaRPr lang="zh-CN" altLang="en-US" sz="1100" b="1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0C5132AE-0813-36F9-4805-ECCCEDD97ABF}"/>
                    </a:ext>
                  </a:extLst>
                </p:cNvPr>
                <p:cNvSpPr txBox="1"/>
                <p:nvPr/>
              </p:nvSpPr>
              <p:spPr>
                <a:xfrm>
                  <a:off x="11983" y="12716"/>
                  <a:ext cx="1576" cy="309"/>
                </a:xfrm>
                <a:prstGeom prst="rect">
                  <a:avLst/>
                </a:prstGeom>
                <a:solidFill>
                  <a:srgbClr val="BFBFBF"/>
                </a:solidFill>
                <a:ln>
                  <a:solidFill>
                    <a:srgbClr val="BFBFBF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pPr algn="ctr"/>
                  <a:endParaRPr lang="zh-CN" altLang="en-US" sz="1100" b="1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B3C6F88-0334-7D31-E881-71D400EC3EB0}"/>
                    </a:ext>
                  </a:extLst>
                </p:cNvPr>
                <p:cNvSpPr txBox="1"/>
                <p:nvPr/>
              </p:nvSpPr>
              <p:spPr>
                <a:xfrm>
                  <a:off x="12096" y="15066"/>
                  <a:ext cx="1576" cy="309"/>
                </a:xfrm>
                <a:prstGeom prst="rect">
                  <a:avLst/>
                </a:prstGeom>
                <a:solidFill>
                  <a:srgbClr val="BFBFBF"/>
                </a:solidFill>
                <a:ln>
                  <a:solidFill>
                    <a:srgbClr val="BFBFBF"/>
                  </a:solidFill>
                </a:ln>
              </p:spPr>
              <p:txBody>
                <a:bodyPr wrap="square" rtlCol="0">
                  <a:noAutofit/>
                </a:bodyPr>
                <a:lstStyle/>
                <a:p>
                  <a:pPr algn="ctr"/>
                  <a:endParaRPr lang="zh-CN" altLang="en-US" sz="1100" b="1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</p:grpSp>
          <p:pic>
            <p:nvPicPr>
              <p:cNvPr id="19" name="图片 18">
                <a:extLst>
                  <a:ext uri="{FF2B5EF4-FFF2-40B4-BE49-F238E27FC236}">
                    <a16:creationId xmlns:a16="http://schemas.microsoft.com/office/drawing/2014/main" id="{BC923614-E039-4642-4CCB-960B46B62A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4960" y="1950714"/>
                <a:ext cx="936320" cy="274118"/>
              </a:xfrm>
              <a:prstGeom prst="rect">
                <a:avLst/>
              </a:prstGeom>
            </p:spPr>
          </p:pic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77CA1D7-D33E-764C-EDEB-95E201F0266D}"/>
                  </a:ext>
                </a:extLst>
              </p:cNvPr>
              <p:cNvSpPr txBox="1"/>
              <p:nvPr/>
            </p:nvSpPr>
            <p:spPr>
              <a:xfrm>
                <a:off x="480060" y="1898243"/>
                <a:ext cx="41549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600" b="1" dirty="0"/>
                  <a:t>服务器</a:t>
                </a: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29D95C6-A8BF-00C2-E363-6BE43CBD6BA2}"/>
                  </a:ext>
                </a:extLst>
              </p:cNvPr>
              <p:cNvSpPr txBox="1"/>
              <p:nvPr/>
            </p:nvSpPr>
            <p:spPr>
              <a:xfrm>
                <a:off x="314960" y="2015371"/>
                <a:ext cx="8002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本地核心</a:t>
                </a: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66679A1-266F-918E-9AB2-A1C277269E32}"/>
                  </a:ext>
                </a:extLst>
              </p:cNvPr>
              <p:cNvSpPr txBox="1"/>
              <p:nvPr/>
            </p:nvSpPr>
            <p:spPr>
              <a:xfrm>
                <a:off x="3593203" y="1412284"/>
                <a:ext cx="6463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防火墙</a:t>
                </a: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77CC599-75DD-E06A-21EE-5C53651A1221}"/>
                  </a:ext>
                </a:extLst>
              </p:cNvPr>
              <p:cNvSpPr txBox="1"/>
              <p:nvPr/>
            </p:nvSpPr>
            <p:spPr>
              <a:xfrm>
                <a:off x="2008352" y="4548643"/>
                <a:ext cx="95798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dirty="0"/>
                  <a:t>数据</a:t>
                </a:r>
                <a:endParaRPr lang="en-US" altLang="zh-CN" sz="1100" dirty="0"/>
              </a:p>
              <a:p>
                <a:pPr algn="ctr"/>
                <a:r>
                  <a:rPr lang="zh-CN" altLang="en-US" sz="1100" dirty="0"/>
                  <a:t>采集器</a:t>
                </a: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96CF662-3CCA-CA32-29F4-35A4BE11266A}"/>
                  </a:ext>
                </a:extLst>
              </p:cNvPr>
              <p:cNvSpPr txBox="1"/>
              <p:nvPr/>
            </p:nvSpPr>
            <p:spPr>
              <a:xfrm>
                <a:off x="2900913" y="5026330"/>
                <a:ext cx="9579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dirty="0"/>
                  <a:t>变压器</a:t>
                </a: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B483E348-7CF9-27F4-023B-095C47C43D12}"/>
                  </a:ext>
                </a:extLst>
              </p:cNvPr>
              <p:cNvSpPr txBox="1"/>
              <p:nvPr/>
            </p:nvSpPr>
            <p:spPr>
              <a:xfrm>
                <a:off x="3522166" y="3695332"/>
                <a:ext cx="95798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b="1" dirty="0"/>
                  <a:t>一号换流器</a:t>
                </a:r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B64FBC4F-4B43-F055-E6C0-52C8C9FCE9A7}"/>
                  </a:ext>
                </a:extLst>
              </p:cNvPr>
              <p:cNvSpPr txBox="1"/>
              <p:nvPr/>
            </p:nvSpPr>
            <p:spPr>
              <a:xfrm>
                <a:off x="3522166" y="5134767"/>
                <a:ext cx="95798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b="1" dirty="0"/>
                  <a:t>二号换流器</a:t>
                </a: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88423A7-01A5-79B9-F018-7E937BCB6A48}"/>
                  </a:ext>
                </a:extLst>
              </p:cNvPr>
              <p:cNvSpPr txBox="1"/>
              <p:nvPr/>
            </p:nvSpPr>
            <p:spPr>
              <a:xfrm>
                <a:off x="4101467" y="4372825"/>
                <a:ext cx="9579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dirty="0"/>
                  <a:t>太阳能板</a:t>
                </a:r>
              </a:p>
            </p:txBody>
          </p:sp>
        </p:grpSp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E98023DC-5842-B5B1-898F-5CF785B23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0060" y="3550920"/>
              <a:ext cx="635119" cy="133338"/>
            </a:xfrm>
            <a:prstGeom prst="rect">
              <a:avLst/>
            </a:prstGeom>
          </p:spPr>
        </p:pic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99C719AB-19E6-4F9F-853A-EFD8F2367C11}"/>
                </a:ext>
              </a:extLst>
            </p:cNvPr>
            <p:cNvSpPr txBox="1"/>
            <p:nvPr/>
          </p:nvSpPr>
          <p:spPr>
            <a:xfrm>
              <a:off x="549723" y="3484725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b="1" dirty="0"/>
                <a:t>电网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6043295" cy="7489825"/>
            <a:chOff x="0" y="0"/>
            <a:chExt cx="12960" cy="15843"/>
          </a:xfrm>
        </p:grpSpPr>
        <p:pic>
          <p:nvPicPr>
            <p:cNvPr id="4" name="图片 3" descr="1.1"/>
            <p:cNvPicPr>
              <a:picLocks noChangeAspect="1"/>
            </p:cNvPicPr>
            <p:nvPr/>
          </p:nvPicPr>
          <p:blipFill>
            <a:blip r:embed="rId3"/>
            <a:srcRect b="3870"/>
            <a:stretch>
              <a:fillRect/>
            </a:stretch>
          </p:blipFill>
          <p:spPr>
            <a:xfrm>
              <a:off x="0" y="0"/>
              <a:ext cx="12960" cy="5191"/>
            </a:xfrm>
            <a:prstGeom prst="rect">
              <a:avLst/>
            </a:prstGeom>
          </p:spPr>
        </p:pic>
        <p:pic>
          <p:nvPicPr>
            <p:cNvPr id="5" name="图片 4" descr="2.1"/>
            <p:cNvPicPr>
              <a:picLocks noChangeAspect="1"/>
            </p:cNvPicPr>
            <p:nvPr/>
          </p:nvPicPr>
          <p:blipFill>
            <a:blip r:embed="rId4"/>
            <a:srcRect b="3815"/>
            <a:stretch>
              <a:fillRect/>
            </a:stretch>
          </p:blipFill>
          <p:spPr>
            <a:xfrm>
              <a:off x="0" y="5249"/>
              <a:ext cx="12960" cy="5194"/>
            </a:xfrm>
            <a:prstGeom prst="rect">
              <a:avLst/>
            </a:prstGeom>
          </p:spPr>
        </p:pic>
        <p:pic>
          <p:nvPicPr>
            <p:cNvPr id="6" name="图片 5" descr="3.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10443"/>
              <a:ext cx="12960" cy="5400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3916" y="40"/>
              <a:ext cx="5815" cy="457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t" anchorCtr="0">
              <a:noAutofit/>
            </a:bodyPr>
            <a:lstStyle/>
            <a:p>
              <a:pPr algn="ctr"/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PureLSTM</a:t>
              </a:r>
              <a:endParaRPr lang="zh-CN" altLang="en-US" sz="12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281" y="5194"/>
              <a:ext cx="6400" cy="498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t" anchorCtr="0">
              <a:noAutofit/>
            </a:bodyPr>
            <a:lstStyle/>
            <a:p>
              <a:pPr algn="ctr"/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        </a:t>
              </a:r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FusionMode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697" y="10391"/>
              <a:ext cx="6400" cy="457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t" anchorCtr="0">
              <a:noAutofit/>
            </a:bodyPr>
            <a:lstStyle/>
            <a:p>
              <a:pPr algn="ctr"/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BiFusionModel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12090" y="0"/>
            <a:ext cx="6527800" cy="6767195"/>
            <a:chOff x="0" y="0"/>
            <a:chExt cx="13974" cy="16270"/>
          </a:xfrm>
        </p:grpSpPr>
        <p:pic>
          <p:nvPicPr>
            <p:cNvPr id="4" name="图片 3" descr="1.2"/>
            <p:cNvPicPr>
              <a:picLocks noChangeAspect="1"/>
            </p:cNvPicPr>
            <p:nvPr/>
          </p:nvPicPr>
          <p:blipFill>
            <a:blip r:embed="rId3"/>
            <a:srcRect b="4342"/>
            <a:stretch>
              <a:fillRect/>
            </a:stretch>
          </p:blipFill>
          <p:spPr>
            <a:xfrm>
              <a:off x="0" y="0"/>
              <a:ext cx="13935" cy="5332"/>
            </a:xfrm>
            <a:prstGeom prst="rect">
              <a:avLst/>
            </a:prstGeom>
          </p:spPr>
        </p:pic>
        <p:pic>
          <p:nvPicPr>
            <p:cNvPr id="5" name="图片 4" descr="2.2"/>
            <p:cNvPicPr>
              <a:picLocks noChangeAspect="1"/>
            </p:cNvPicPr>
            <p:nvPr/>
          </p:nvPicPr>
          <p:blipFill>
            <a:blip r:embed="rId4"/>
            <a:srcRect b="4043"/>
            <a:stretch>
              <a:fillRect/>
            </a:stretch>
          </p:blipFill>
          <p:spPr>
            <a:xfrm>
              <a:off x="0" y="5332"/>
              <a:ext cx="13974" cy="5364"/>
            </a:xfrm>
            <a:prstGeom prst="rect">
              <a:avLst/>
            </a:prstGeom>
          </p:spPr>
        </p:pic>
        <p:pic>
          <p:nvPicPr>
            <p:cNvPr id="6" name="图片 5" descr="3.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10696"/>
              <a:ext cx="13935" cy="5574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5451" y="14"/>
              <a:ext cx="3837" cy="496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t" anchorCtr="0">
              <a:noAutofit/>
            </a:bodyPr>
            <a:lstStyle/>
            <a:p>
              <a:pPr algn="ctr"/>
              <a:r>
                <a:rPr lang="en-US" altLang="zh-CN" sz="1300">
                  <a:latin typeface="Times New Roman" panose="02020603050405020304" charset="0"/>
                  <a:cs typeface="Times New Roman" panose="02020603050405020304" charset="0"/>
                </a:rPr>
                <a:t>PureLSTM</a:t>
              </a:r>
              <a:endParaRPr lang="zh-CN" altLang="en-US" sz="13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4474" y="5405"/>
              <a:ext cx="5527" cy="479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t" anchorCtr="0">
              <a:noAutofit/>
            </a:bodyPr>
            <a:lstStyle/>
            <a:p>
              <a:pPr algn="ctr"/>
              <a:r>
                <a:rPr lang="en-US" altLang="zh-CN" sz="1300">
                  <a:latin typeface="Times New Roman" panose="02020603050405020304" charset="0"/>
                  <a:cs typeface="Times New Roman" panose="02020603050405020304" charset="0"/>
                </a:rPr>
                <a:t>FusionMode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707" y="10778"/>
              <a:ext cx="5528" cy="433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t" anchorCtr="0">
              <a:noAutofit/>
            </a:bodyPr>
            <a:lstStyle/>
            <a:p>
              <a:pPr algn="ctr"/>
              <a:r>
                <a:rPr lang="en-US" altLang="zh-CN" sz="1300">
                  <a:latin typeface="Times New Roman" panose="02020603050405020304" charset="0"/>
                  <a:cs typeface="Times New Roman" panose="02020603050405020304" charset="0"/>
                </a:rPr>
                <a:t>BiFusionModel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2"/>
            </p:custDataLst>
          </p:nvPr>
        </p:nvGrpSpPr>
        <p:grpSpPr>
          <a:xfrm>
            <a:off x="748665" y="21094"/>
            <a:ext cx="9880600" cy="3680321"/>
            <a:chOff x="0" y="-77"/>
            <a:chExt cx="20470" cy="6889"/>
          </a:xfrm>
        </p:grpSpPr>
        <p:pic>
          <p:nvPicPr>
            <p:cNvPr id="10" name="图片 9" descr="3.3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3721" y="0"/>
              <a:ext cx="6749" cy="6749"/>
            </a:xfrm>
            <a:prstGeom prst="rect">
              <a:avLst/>
            </a:prstGeom>
          </p:spPr>
        </p:pic>
        <p:grpSp>
          <p:nvGrpSpPr>
            <p:cNvPr id="16" name="组合 15"/>
            <p:cNvGrpSpPr/>
            <p:nvPr/>
          </p:nvGrpSpPr>
          <p:grpSpPr>
            <a:xfrm>
              <a:off x="0" y="-77"/>
              <a:ext cx="19635" cy="6889"/>
              <a:chOff x="0" y="-77"/>
              <a:chExt cx="19635" cy="6889"/>
            </a:xfrm>
          </p:grpSpPr>
          <p:pic>
            <p:nvPicPr>
              <p:cNvPr id="8" name="内容占位符 3" descr="1.3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1"/>
              <a:stretch>
                <a:fillRect/>
              </a:stretch>
            </p:blipFill>
            <p:spPr>
              <a:xfrm>
                <a:off x="0" y="0"/>
                <a:ext cx="6788" cy="6788"/>
              </a:xfrm>
              <a:prstGeom prst="rect">
                <a:avLst/>
              </a:prstGeom>
            </p:spPr>
          </p:pic>
          <p:pic>
            <p:nvPicPr>
              <p:cNvPr id="9" name="图片 8" descr="2.3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6909" y="0"/>
                <a:ext cx="6812" cy="6812"/>
              </a:xfrm>
              <a:prstGeom prst="rect">
                <a:avLst/>
              </a:prstGeom>
            </p:spPr>
          </p:pic>
          <p:grpSp>
            <p:nvGrpSpPr>
              <p:cNvPr id="11" name="组合 10"/>
              <p:cNvGrpSpPr/>
              <p:nvPr/>
            </p:nvGrpSpPr>
            <p:grpSpPr>
              <a:xfrm>
                <a:off x="1950" y="-77"/>
                <a:ext cx="17685" cy="556"/>
                <a:chOff x="1950" y="-77"/>
                <a:chExt cx="17685" cy="556"/>
              </a:xfrm>
            </p:grpSpPr>
            <p:sp>
              <p:nvSpPr>
                <p:cNvPr id="13" name="文本框 12"/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14921" y="0"/>
                  <a:ext cx="4714" cy="47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</p:spPr>
              <p:txBody>
                <a:bodyPr wrap="square" rtlCol="0" anchor="t" anchorCtr="0">
                  <a:noAutofit/>
                </a:bodyPr>
                <a:lstStyle/>
                <a:p>
                  <a:pPr algn="ctr"/>
                  <a:r>
                    <a:rPr lang="en-US" altLang="zh-CN" sz="1100">
                      <a:latin typeface="Times New Roman" panose="02020603050405020304" charset="0"/>
                      <a:cs typeface="Times New Roman" panose="02020603050405020304" charset="0"/>
                    </a:rPr>
                    <a:t>BiFusionModel</a:t>
                  </a:r>
                </a:p>
              </p:txBody>
            </p:sp>
            <p:sp>
              <p:nvSpPr>
                <p:cNvPr id="14" name="文本框 13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8048" y="0"/>
                  <a:ext cx="4712" cy="47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</p:spPr>
              <p:txBody>
                <a:bodyPr wrap="square" rtlCol="0" anchor="t" anchorCtr="0">
                  <a:noAutofit/>
                </a:bodyPr>
                <a:lstStyle/>
                <a:p>
                  <a:pPr algn="ctr"/>
                  <a:r>
                    <a:rPr lang="en-US" altLang="zh-CN" sz="1100">
                      <a:latin typeface="Times New Roman" panose="02020603050405020304" charset="0"/>
                      <a:cs typeface="Times New Roman" panose="02020603050405020304" charset="0"/>
                    </a:rPr>
                    <a:t>FusionMode</a:t>
                  </a:r>
                </a:p>
              </p:txBody>
            </p:sp>
            <p:sp>
              <p:nvSpPr>
                <p:cNvPr id="15" name="文本框 14"/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1950" y="-77"/>
                  <a:ext cx="3273" cy="55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</p:spPr>
              <p:txBody>
                <a:bodyPr wrap="square" rtlCol="0" anchor="t" anchorCtr="0">
                  <a:noAutofit/>
                </a:bodyPr>
                <a:lstStyle/>
                <a:p>
                  <a:pPr algn="ctr"/>
                  <a:r>
                    <a:rPr lang="en-US" altLang="zh-CN" sz="1100">
                      <a:latin typeface="Times New Roman" panose="02020603050405020304" charset="0"/>
                      <a:cs typeface="Times New Roman" panose="02020603050405020304" charset="0"/>
                    </a:rPr>
                    <a:t>PureLSTM</a:t>
                  </a:r>
                  <a:endParaRPr lang="zh-CN" altLang="en-US" sz="11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</p:grp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11150" y="-95250"/>
            <a:ext cx="5664835" cy="6874919"/>
            <a:chOff x="-25" y="-204"/>
            <a:chExt cx="13681" cy="16829"/>
          </a:xfrm>
        </p:grpSpPr>
        <p:pic>
          <p:nvPicPr>
            <p:cNvPr id="6" name="图片 5" descr="3.4"/>
            <p:cNvPicPr>
              <a:picLocks noChangeAspect="1"/>
            </p:cNvPicPr>
            <p:nvPr/>
          </p:nvPicPr>
          <p:blipFill>
            <a:blip r:embed="rId3"/>
            <a:srcRect b="3855"/>
            <a:stretch>
              <a:fillRect/>
            </a:stretch>
          </p:blipFill>
          <p:spPr>
            <a:xfrm>
              <a:off x="-25" y="10988"/>
              <a:ext cx="13681" cy="5637"/>
            </a:xfrm>
            <a:prstGeom prst="rect">
              <a:avLst/>
            </a:prstGeom>
          </p:spPr>
        </p:pic>
        <p:grpSp>
          <p:nvGrpSpPr>
            <p:cNvPr id="7" name="组合 6"/>
            <p:cNvGrpSpPr/>
            <p:nvPr/>
          </p:nvGrpSpPr>
          <p:grpSpPr>
            <a:xfrm>
              <a:off x="0" y="-204"/>
              <a:ext cx="13656" cy="11714"/>
              <a:chOff x="0" y="-204"/>
              <a:chExt cx="13656" cy="11714"/>
            </a:xfrm>
          </p:grpSpPr>
          <p:pic>
            <p:nvPicPr>
              <p:cNvPr id="4" name="图片 3" descr="1.4"/>
              <p:cNvPicPr>
                <a:picLocks noChangeAspect="1"/>
              </p:cNvPicPr>
              <p:nvPr/>
            </p:nvPicPr>
            <p:blipFill>
              <a:blip r:embed="rId4"/>
              <a:srcRect b="4423"/>
              <a:stretch>
                <a:fillRect/>
              </a:stretch>
            </p:blipFill>
            <p:spPr>
              <a:xfrm>
                <a:off x="0" y="-204"/>
                <a:ext cx="13610" cy="5604"/>
              </a:xfrm>
              <a:prstGeom prst="rect">
                <a:avLst/>
              </a:prstGeom>
            </p:spPr>
          </p:pic>
          <p:pic>
            <p:nvPicPr>
              <p:cNvPr id="5" name="图片 4" descr="2.4"/>
              <p:cNvPicPr>
                <a:picLocks noChangeAspect="1"/>
              </p:cNvPicPr>
              <p:nvPr/>
            </p:nvPicPr>
            <p:blipFill>
              <a:blip r:embed="rId5"/>
              <a:srcRect b="4511"/>
              <a:stretch>
                <a:fillRect/>
              </a:stretch>
            </p:blipFill>
            <p:spPr>
              <a:xfrm>
                <a:off x="0" y="5400"/>
                <a:ext cx="13656" cy="5588"/>
              </a:xfrm>
              <a:prstGeom prst="rect">
                <a:avLst/>
              </a:prstGeom>
            </p:spPr>
          </p:pic>
          <p:sp>
            <p:nvSpPr>
              <p:cNvPr id="15" name="文本框 14"/>
              <p:cNvSpPr txBox="1"/>
              <p:nvPr/>
            </p:nvSpPr>
            <p:spPr>
              <a:xfrm>
                <a:off x="5378" y="-117"/>
                <a:ext cx="2983" cy="39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</p:spPr>
            <p:txBody>
              <a:bodyPr wrap="square" rtlCol="0" anchor="t" anchorCtr="0">
                <a:noAutofit/>
              </a:bodyPr>
              <a:lstStyle/>
              <a:p>
                <a:pPr algn="ctr"/>
                <a:r>
                  <a:rPr lang="en-US" altLang="zh-CN" sz="1100">
                    <a:latin typeface="Times New Roman" panose="02020603050405020304" charset="0"/>
                    <a:cs typeface="Times New Roman" panose="02020603050405020304" charset="0"/>
                  </a:rPr>
                  <a:t>PureLSTM</a:t>
                </a:r>
                <a:endParaRPr lang="zh-CN" altLang="en-US" sz="11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5165" y="5499"/>
                <a:ext cx="3582" cy="46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</p:spPr>
            <p:txBody>
              <a:bodyPr wrap="square" rtlCol="0" anchor="t" anchorCtr="0">
                <a:noAutofit/>
              </a:bodyPr>
              <a:lstStyle/>
              <a:p>
                <a:pPr algn="ctr"/>
                <a:r>
                  <a:rPr lang="en-US" altLang="zh-CN" sz="1100">
                    <a:latin typeface="Times New Roman" panose="02020603050405020304" charset="0"/>
                    <a:cs typeface="Times New Roman" panose="02020603050405020304" charset="0"/>
                  </a:rPr>
                  <a:t>FusionMode</a:t>
                </a: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4980" y="10988"/>
                <a:ext cx="3582" cy="52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</p:spPr>
            <p:txBody>
              <a:bodyPr wrap="square" rtlCol="0" anchor="t" anchorCtr="0">
                <a:noAutofit/>
              </a:bodyPr>
              <a:lstStyle/>
              <a:p>
                <a:pPr algn="ctr"/>
                <a:r>
                  <a:rPr lang="en-US" altLang="zh-CN" sz="1100">
                    <a:latin typeface="Times New Roman" panose="02020603050405020304" charset="0"/>
                    <a:cs typeface="Times New Roman" panose="02020603050405020304" charset="0"/>
                  </a:rPr>
                  <a:t>BiFusionModel</a:t>
                </a: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0" y="0"/>
            <a:ext cx="5190490" cy="6858000"/>
            <a:chOff x="0" y="0"/>
            <a:chExt cx="8584" cy="12846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0"/>
              <a:ext cx="8584" cy="12846"/>
              <a:chOff x="0" y="0"/>
              <a:chExt cx="8584" cy="12846"/>
            </a:xfrm>
          </p:grpSpPr>
          <p:pic>
            <p:nvPicPr>
              <p:cNvPr id="4" name="图片 3" descr="1.5"/>
              <p:cNvPicPr>
                <a:picLocks noChangeAspect="1"/>
              </p:cNvPicPr>
              <p:nvPr/>
            </p:nvPicPr>
            <p:blipFill>
              <a:blip r:embed="rId3"/>
              <a:srcRect l="48028" b="65157"/>
              <a:stretch>
                <a:fillRect/>
              </a:stretch>
            </p:blipFill>
            <p:spPr>
              <a:xfrm>
                <a:off x="0" y="0"/>
                <a:ext cx="8585" cy="4317"/>
              </a:xfrm>
              <a:prstGeom prst="rect">
                <a:avLst/>
              </a:prstGeom>
            </p:spPr>
          </p:pic>
          <p:pic>
            <p:nvPicPr>
              <p:cNvPr id="5" name="图片 4" descr="2.5"/>
              <p:cNvPicPr>
                <a:picLocks noChangeAspect="1"/>
              </p:cNvPicPr>
              <p:nvPr/>
            </p:nvPicPr>
            <p:blipFill>
              <a:blip r:embed="rId4"/>
              <a:srcRect l="48097" b="64787"/>
              <a:stretch>
                <a:fillRect/>
              </a:stretch>
            </p:blipFill>
            <p:spPr>
              <a:xfrm>
                <a:off x="0" y="4162"/>
                <a:ext cx="8585" cy="4368"/>
              </a:xfrm>
              <a:prstGeom prst="rect">
                <a:avLst/>
              </a:prstGeom>
            </p:spPr>
          </p:pic>
          <p:pic>
            <p:nvPicPr>
              <p:cNvPr id="6" name="图片 5" descr="3.5"/>
              <p:cNvPicPr>
                <a:picLocks noChangeAspect="1"/>
              </p:cNvPicPr>
              <p:nvPr/>
            </p:nvPicPr>
            <p:blipFill>
              <a:blip r:embed="rId5"/>
              <a:srcRect l="48028" b="65157"/>
              <a:stretch>
                <a:fillRect/>
              </a:stretch>
            </p:blipFill>
            <p:spPr>
              <a:xfrm>
                <a:off x="0" y="8530"/>
                <a:ext cx="8585" cy="4317"/>
              </a:xfrm>
              <a:prstGeom prst="rect">
                <a:avLst/>
              </a:prstGeom>
            </p:spPr>
          </p:pic>
        </p:grpSp>
        <p:sp>
          <p:nvSpPr>
            <p:cNvPr id="10" name="文本框 9"/>
            <p:cNvSpPr txBox="1"/>
            <p:nvPr/>
          </p:nvSpPr>
          <p:spPr>
            <a:xfrm>
              <a:off x="1689" y="0"/>
              <a:ext cx="4905" cy="401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sz="11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PureLSTM</a:t>
              </a:r>
              <a:r>
                <a:rPr lang="zh-CN" altLang="en-US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误差时间分布模式</a:t>
              </a:r>
              <a:r>
                <a:rPr lang="en-US" altLang="zh-CN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前</a:t>
              </a:r>
              <a:r>
                <a:rPr lang="en-US" altLang="zh-CN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28</a:t>
              </a:r>
              <a:r>
                <a:rPr lang="zh-CN" altLang="en-US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天</a:t>
              </a:r>
              <a:r>
                <a:rPr lang="en-US" altLang="zh-CN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689" y="4079"/>
              <a:ext cx="4905" cy="488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sz="11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 FusionMode</a:t>
              </a:r>
              <a:r>
                <a:rPr lang="zh-CN" altLang="en-US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误差时间分布模式</a:t>
              </a:r>
              <a:r>
                <a:rPr lang="en-US" altLang="zh-CN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前</a:t>
              </a:r>
              <a:r>
                <a:rPr lang="en-US" altLang="zh-CN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28</a:t>
              </a:r>
              <a:r>
                <a:rPr lang="zh-CN" altLang="en-US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天</a:t>
              </a:r>
              <a:r>
                <a:rPr lang="en-US" altLang="zh-CN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840" y="8530"/>
              <a:ext cx="4905" cy="425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sz="11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BiFusionModel</a:t>
              </a:r>
              <a:r>
                <a:rPr lang="zh-CN" altLang="en-US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误差时间分布模式</a:t>
              </a:r>
              <a:r>
                <a:rPr lang="en-US" altLang="zh-CN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前</a:t>
              </a:r>
              <a:r>
                <a:rPr lang="en-US" altLang="zh-CN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28</a:t>
              </a:r>
              <a:r>
                <a:rPr lang="zh-CN" altLang="en-US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天</a:t>
              </a:r>
              <a:r>
                <a:rPr lang="en-US" altLang="zh-CN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756920" y="0"/>
            <a:ext cx="5303520" cy="6819265"/>
            <a:chOff x="0" y="0"/>
            <a:chExt cx="12098" cy="14718"/>
          </a:xfrm>
        </p:grpSpPr>
        <p:pic>
          <p:nvPicPr>
            <p:cNvPr id="4" name="图片 3" descr="lmd1"/>
            <p:cNvPicPr>
              <a:picLocks noChangeAspect="1"/>
            </p:cNvPicPr>
            <p:nvPr/>
          </p:nvPicPr>
          <p:blipFill>
            <a:blip r:embed="rId3"/>
            <a:srcRect b="3829"/>
            <a:stretch>
              <a:fillRect/>
            </a:stretch>
          </p:blipFill>
          <p:spPr>
            <a:xfrm>
              <a:off x="0" y="0"/>
              <a:ext cx="12098" cy="4848"/>
            </a:xfrm>
            <a:prstGeom prst="rect">
              <a:avLst/>
            </a:prstGeom>
          </p:spPr>
        </p:pic>
        <p:pic>
          <p:nvPicPr>
            <p:cNvPr id="5" name="图片 4" descr="mixd1"/>
            <p:cNvPicPr>
              <a:picLocks noChangeAspect="1"/>
            </p:cNvPicPr>
            <p:nvPr/>
          </p:nvPicPr>
          <p:blipFill>
            <a:blip r:embed="rId4"/>
            <a:srcRect b="3972"/>
            <a:stretch>
              <a:fillRect/>
            </a:stretch>
          </p:blipFill>
          <p:spPr>
            <a:xfrm>
              <a:off x="0" y="4848"/>
              <a:ext cx="12083" cy="4835"/>
            </a:xfrm>
            <a:prstGeom prst="rect">
              <a:avLst/>
            </a:prstGeom>
          </p:spPr>
        </p:pic>
        <p:pic>
          <p:nvPicPr>
            <p:cNvPr id="6" name="图片 5" descr="nwp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9683"/>
              <a:ext cx="12082" cy="5035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3198" y="82"/>
              <a:ext cx="5874" cy="310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t" anchorCtr="0">
              <a:noAutofit/>
            </a:bodyPr>
            <a:lstStyle/>
            <a:p>
              <a:pPr algn="ctr"/>
              <a:r>
                <a:rPr lang="en-US" altLang="zh-CN" sz="1100">
                  <a:latin typeface="Times New Roman" panose="02020603050405020304" charset="0"/>
                  <a:cs typeface="Times New Roman" panose="02020603050405020304" charset="0"/>
                </a:rPr>
                <a:t>PureLSTM</a:t>
              </a:r>
              <a:endParaRPr lang="zh-CN" altLang="en-US" sz="11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484" y="4912"/>
              <a:ext cx="6042" cy="333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t" anchorCtr="0">
              <a:noAutofit/>
            </a:bodyPr>
            <a:lstStyle/>
            <a:p>
              <a:pPr algn="ctr"/>
              <a:r>
                <a:rPr lang="en-US" altLang="zh-CN" sz="1100">
                  <a:latin typeface="Times New Roman" panose="02020603050405020304" charset="0"/>
                  <a:cs typeface="Times New Roman" panose="02020603050405020304" charset="0"/>
                </a:rPr>
                <a:t>FusionMode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483" y="9682"/>
              <a:ext cx="5777" cy="383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t" anchorCtr="0">
              <a:noAutofit/>
            </a:bodyPr>
            <a:lstStyle/>
            <a:p>
              <a:pPr algn="ctr"/>
              <a:r>
                <a:rPr lang="en-US" altLang="zh-CN" sz="1100">
                  <a:latin typeface="Times New Roman" panose="02020603050405020304" charset="0"/>
                  <a:cs typeface="Times New Roman" panose="02020603050405020304" charset="0"/>
                </a:rPr>
                <a:t>BiFusionModel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276860" y="51435"/>
            <a:ext cx="5818505" cy="6467475"/>
            <a:chOff x="0" y="0"/>
            <a:chExt cx="9836" cy="11224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0"/>
              <a:ext cx="9837" cy="11224"/>
              <a:chOff x="0" y="0"/>
              <a:chExt cx="13748" cy="15860"/>
            </a:xfrm>
          </p:grpSpPr>
          <p:pic>
            <p:nvPicPr>
              <p:cNvPr id="4" name="图片 3" descr="lmd2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0"/>
              <a:srcRect b="4545"/>
              <a:stretch>
                <a:fillRect/>
              </a:stretch>
            </p:blipFill>
            <p:spPr>
              <a:xfrm>
                <a:off x="0" y="0"/>
                <a:ext cx="13748" cy="5250"/>
              </a:xfrm>
              <a:prstGeom prst="rect">
                <a:avLst/>
              </a:prstGeom>
            </p:spPr>
          </p:pic>
          <p:pic>
            <p:nvPicPr>
              <p:cNvPr id="5" name="图片 4" descr="mixd2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11"/>
              <a:srcRect b="3946"/>
              <a:stretch>
                <a:fillRect/>
              </a:stretch>
            </p:blipFill>
            <p:spPr>
              <a:xfrm>
                <a:off x="0" y="5301"/>
                <a:ext cx="13748" cy="5282"/>
              </a:xfrm>
              <a:prstGeom prst="rect">
                <a:avLst/>
              </a:prstGeom>
            </p:spPr>
          </p:pic>
          <p:pic>
            <p:nvPicPr>
              <p:cNvPr id="6" name="图片 5" descr="nwp2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12"/>
              <a:srcRect b="4145"/>
              <a:stretch>
                <a:fillRect/>
              </a:stretch>
            </p:blipFill>
            <p:spPr>
              <a:xfrm>
                <a:off x="0" y="10588"/>
                <a:ext cx="13748" cy="5272"/>
              </a:xfrm>
              <a:prstGeom prst="rect">
                <a:avLst/>
              </a:prstGeom>
            </p:spPr>
          </p:pic>
          <p:sp>
            <p:nvSpPr>
              <p:cNvPr id="15" name="文本框 14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176" y="56"/>
                <a:ext cx="4573" cy="449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</p:spPr>
            <p:txBody>
              <a:bodyPr wrap="square" rtlCol="0" anchor="t" anchorCtr="0">
                <a:noAutofit/>
              </a:bodyPr>
              <a:lstStyle/>
              <a:p>
                <a:pPr algn="ctr"/>
                <a:r>
                  <a:rPr lang="en-US" altLang="zh-CN" sz="1100">
                    <a:latin typeface="Times New Roman" panose="02020603050405020304" charset="0"/>
                    <a:cs typeface="Times New Roman" panose="02020603050405020304" charset="0"/>
                  </a:rPr>
                  <a:t>PureLSTM</a:t>
                </a:r>
                <a:endParaRPr lang="zh-CN" altLang="en-US" sz="11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3048" y="3784"/>
              <a:ext cx="4704" cy="316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t" anchorCtr="0">
              <a:noAutofit/>
            </a:bodyPr>
            <a:lstStyle/>
            <a:p>
              <a:pPr algn="ctr"/>
              <a:r>
                <a:rPr lang="en-US" altLang="zh-CN" sz="1100">
                  <a:latin typeface="Times New Roman" panose="02020603050405020304" charset="0"/>
                  <a:cs typeface="Times New Roman" panose="02020603050405020304" charset="0"/>
                </a:rPr>
                <a:t>FusionMode</a:t>
              </a:r>
            </a:p>
          </p:txBody>
        </p:sp>
        <p:sp>
          <p:nvSpPr>
            <p:cNvPr id="13" name="文本框 12"/>
            <p:cNvSpPr txBox="1"/>
            <p:nvPr>
              <p:custDataLst>
                <p:tags r:id="rId4"/>
              </p:custDataLst>
            </p:nvPr>
          </p:nvSpPr>
          <p:spPr>
            <a:xfrm>
              <a:off x="3253" y="7526"/>
              <a:ext cx="4498" cy="330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txBody>
            <a:bodyPr wrap="square" rtlCol="0" anchor="t" anchorCtr="0">
              <a:noAutofit/>
            </a:bodyPr>
            <a:lstStyle/>
            <a:p>
              <a:pPr algn="ctr"/>
              <a:r>
                <a:rPr lang="en-US" altLang="zh-CN" sz="1100">
                  <a:latin typeface="Times New Roman" panose="02020603050405020304" charset="0"/>
                  <a:cs typeface="Times New Roman" panose="02020603050405020304" charset="0"/>
                </a:rPr>
                <a:t>BiFusionModel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34645" y="823847"/>
            <a:ext cx="9414528" cy="3354453"/>
            <a:chOff x="0" y="-182"/>
            <a:chExt cx="19628" cy="6742"/>
          </a:xfrm>
        </p:grpSpPr>
        <p:pic>
          <p:nvPicPr>
            <p:cNvPr id="4" name="图片 3" descr="lmd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560" cy="6560"/>
            </a:xfrm>
            <a:prstGeom prst="rect">
              <a:avLst/>
            </a:prstGeom>
          </p:spPr>
        </p:pic>
        <p:grpSp>
          <p:nvGrpSpPr>
            <p:cNvPr id="7" name="组合 6"/>
            <p:cNvGrpSpPr/>
            <p:nvPr/>
          </p:nvGrpSpPr>
          <p:grpSpPr>
            <a:xfrm>
              <a:off x="1917" y="-182"/>
              <a:ext cx="17711" cy="6535"/>
              <a:chOff x="1917" y="-182"/>
              <a:chExt cx="17711" cy="6535"/>
            </a:xfrm>
          </p:grpSpPr>
          <p:pic>
            <p:nvPicPr>
              <p:cNvPr id="5" name="图片 4" descr="mixd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59" y="-182"/>
                <a:ext cx="6535" cy="6535"/>
              </a:xfrm>
              <a:prstGeom prst="rect">
                <a:avLst/>
              </a:prstGeom>
            </p:spPr>
          </p:pic>
          <p:pic>
            <p:nvPicPr>
              <p:cNvPr id="6" name="图片 5" descr="nwp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094" y="-181"/>
                <a:ext cx="6534" cy="6534"/>
              </a:xfrm>
              <a:prstGeom prst="rect">
                <a:avLst/>
              </a:prstGeom>
            </p:spPr>
          </p:pic>
          <p:sp>
            <p:nvSpPr>
              <p:cNvPr id="15" name="文本框 14"/>
              <p:cNvSpPr txBox="1"/>
              <p:nvPr/>
            </p:nvSpPr>
            <p:spPr>
              <a:xfrm>
                <a:off x="1917" y="1"/>
                <a:ext cx="3273" cy="42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</p:spPr>
            <p:txBody>
              <a:bodyPr wrap="square" rtlCol="0" anchor="t" anchorCtr="0">
                <a:noAutofit/>
              </a:bodyPr>
              <a:lstStyle/>
              <a:p>
                <a:pPr algn="ctr"/>
                <a:r>
                  <a:rPr lang="en-US" altLang="zh-CN" sz="1100">
                    <a:latin typeface="Times New Roman" panose="02020603050405020304" charset="0"/>
                    <a:cs typeface="Times New Roman" panose="02020603050405020304" charset="0"/>
                  </a:rPr>
                  <a:t>PureLSTM</a:t>
                </a:r>
                <a:endParaRPr lang="zh-CN" altLang="en-US" sz="11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7755" y="-179"/>
                <a:ext cx="4704" cy="394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</p:spPr>
            <p:txBody>
              <a:bodyPr wrap="square" rtlCol="0" anchor="t" anchorCtr="0">
                <a:noAutofit/>
              </a:bodyPr>
              <a:lstStyle/>
              <a:p>
                <a:pPr algn="ctr"/>
                <a:r>
                  <a:rPr lang="en-US" altLang="zh-CN" sz="1100">
                    <a:latin typeface="Times New Roman" panose="02020603050405020304" charset="0"/>
                    <a:cs typeface="Times New Roman" panose="02020603050405020304" charset="0"/>
                  </a:rPr>
                  <a:t>FusionMode</a:t>
                </a: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14463" y="-179"/>
                <a:ext cx="4497" cy="394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</p:spPr>
            <p:txBody>
              <a:bodyPr wrap="square" rtlCol="0" anchor="t" anchorCtr="0">
                <a:noAutofit/>
              </a:bodyPr>
              <a:lstStyle/>
              <a:p>
                <a:pPr algn="ctr"/>
                <a:r>
                  <a:rPr lang="en-US" altLang="zh-CN" sz="1100">
                    <a:latin typeface="Times New Roman" panose="02020603050405020304" charset="0"/>
                    <a:cs typeface="Times New Roman" panose="02020603050405020304" charset="0"/>
                  </a:rPr>
                  <a:t>BiFusionModel</a:t>
                </a: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0"/>
            <a:ext cx="6396853" cy="6858000"/>
            <a:chOff x="0" y="0"/>
            <a:chExt cx="12857" cy="15272"/>
          </a:xfrm>
        </p:grpSpPr>
        <p:pic>
          <p:nvPicPr>
            <p:cNvPr id="6" name="图片 5" descr="nwp4"/>
            <p:cNvPicPr>
              <a:picLocks noChangeAspect="1"/>
            </p:cNvPicPr>
            <p:nvPr/>
          </p:nvPicPr>
          <p:blipFill>
            <a:blip r:embed="rId3"/>
            <a:srcRect t="4519" b="3938"/>
            <a:stretch>
              <a:fillRect/>
            </a:stretch>
          </p:blipFill>
          <p:spPr>
            <a:xfrm>
              <a:off x="0" y="10228"/>
              <a:ext cx="12856" cy="5044"/>
            </a:xfrm>
            <a:prstGeom prst="rect">
              <a:avLst/>
            </a:prstGeom>
          </p:spPr>
        </p:pic>
        <p:grpSp>
          <p:nvGrpSpPr>
            <p:cNvPr id="8" name="组合 7"/>
            <p:cNvGrpSpPr/>
            <p:nvPr/>
          </p:nvGrpSpPr>
          <p:grpSpPr>
            <a:xfrm>
              <a:off x="0" y="0"/>
              <a:ext cx="12857" cy="10488"/>
              <a:chOff x="0" y="0"/>
              <a:chExt cx="12857" cy="10488"/>
            </a:xfrm>
          </p:grpSpPr>
          <p:pic>
            <p:nvPicPr>
              <p:cNvPr id="4" name="图片 3" descr="lmd4"/>
              <p:cNvPicPr>
                <a:picLocks noChangeAspect="1"/>
              </p:cNvPicPr>
              <p:nvPr/>
            </p:nvPicPr>
            <p:blipFill>
              <a:blip r:embed="rId4"/>
              <a:srcRect t="1506" b="4283"/>
              <a:stretch>
                <a:fillRect/>
              </a:stretch>
            </p:blipFill>
            <p:spPr>
              <a:xfrm>
                <a:off x="0" y="0"/>
                <a:ext cx="12857" cy="5191"/>
              </a:xfrm>
              <a:prstGeom prst="rect">
                <a:avLst/>
              </a:prstGeom>
            </p:spPr>
          </p:pic>
          <p:pic>
            <p:nvPicPr>
              <p:cNvPr id="5" name="图片 4" descr="mixd4"/>
              <p:cNvPicPr>
                <a:picLocks noChangeAspect="1"/>
              </p:cNvPicPr>
              <p:nvPr/>
            </p:nvPicPr>
            <p:blipFill>
              <a:blip r:embed="rId5"/>
              <a:srcRect t="4574" b="4011"/>
              <a:stretch>
                <a:fillRect/>
              </a:stretch>
            </p:blipFill>
            <p:spPr>
              <a:xfrm>
                <a:off x="0" y="5191"/>
                <a:ext cx="12857" cy="5037"/>
              </a:xfrm>
              <a:prstGeom prst="rect">
                <a:avLst/>
              </a:prstGeom>
            </p:spPr>
          </p:pic>
          <p:sp>
            <p:nvSpPr>
              <p:cNvPr id="15" name="文本框 14"/>
              <p:cNvSpPr txBox="1"/>
              <p:nvPr/>
            </p:nvSpPr>
            <p:spPr>
              <a:xfrm>
                <a:off x="4951" y="31"/>
                <a:ext cx="3137" cy="331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</p:spPr>
            <p:txBody>
              <a:bodyPr wrap="square" rtlCol="0" anchor="t" anchorCtr="0">
                <a:noAutofit/>
              </a:bodyPr>
              <a:lstStyle/>
              <a:p>
                <a:pPr algn="ctr"/>
                <a:r>
                  <a:rPr lang="en-US" altLang="zh-CN" sz="1100">
                    <a:latin typeface="Times New Roman" panose="02020603050405020304" charset="0"/>
                    <a:cs typeface="Times New Roman" panose="02020603050405020304" charset="0"/>
                  </a:rPr>
                  <a:t>PureLSTM</a:t>
                </a:r>
                <a:endParaRPr lang="zh-CN" altLang="en-US" sz="11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4781" y="5191"/>
                <a:ext cx="3307" cy="27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1100">
                    <a:latin typeface="Times New Roman" panose="02020603050405020304" charset="0"/>
                    <a:cs typeface="Times New Roman" panose="02020603050405020304" charset="0"/>
                  </a:rPr>
                  <a:t>FusionMode</a:t>
                </a: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5103" y="10214"/>
                <a:ext cx="3307" cy="274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1100">
                    <a:latin typeface="Times New Roman" panose="02020603050405020304" charset="0"/>
                    <a:cs typeface="Times New Roman" panose="02020603050405020304" charset="0"/>
                  </a:rPr>
                  <a:t>BiFusionModel</a:t>
                </a: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0"/>
            <a:ext cx="4364990" cy="6428105"/>
            <a:chOff x="0" y="0"/>
            <a:chExt cx="7522" cy="11314"/>
          </a:xfrm>
        </p:grpSpPr>
        <p:pic>
          <p:nvPicPr>
            <p:cNvPr id="4" name="图片 3" descr="lmd5"/>
            <p:cNvPicPr>
              <a:picLocks noChangeAspect="1"/>
            </p:cNvPicPr>
            <p:nvPr/>
          </p:nvPicPr>
          <p:blipFill>
            <a:blip r:embed="rId3"/>
            <a:srcRect l="47764" b="64824"/>
            <a:stretch>
              <a:fillRect/>
            </a:stretch>
          </p:blipFill>
          <p:spPr>
            <a:xfrm>
              <a:off x="0" y="0"/>
              <a:ext cx="7522" cy="3799"/>
            </a:xfrm>
            <a:prstGeom prst="rect">
              <a:avLst/>
            </a:prstGeom>
          </p:spPr>
        </p:pic>
        <p:pic>
          <p:nvPicPr>
            <p:cNvPr id="5" name="图片 4" descr="mixd5"/>
            <p:cNvPicPr>
              <a:picLocks noChangeAspect="1"/>
            </p:cNvPicPr>
            <p:nvPr/>
          </p:nvPicPr>
          <p:blipFill>
            <a:blip r:embed="rId4"/>
            <a:srcRect l="48014" b="64824"/>
            <a:stretch>
              <a:fillRect/>
            </a:stretch>
          </p:blipFill>
          <p:spPr>
            <a:xfrm>
              <a:off x="0" y="3742"/>
              <a:ext cx="7486" cy="3799"/>
            </a:xfrm>
            <a:prstGeom prst="rect">
              <a:avLst/>
            </a:prstGeom>
          </p:spPr>
        </p:pic>
        <p:pic>
          <p:nvPicPr>
            <p:cNvPr id="6" name="图片 5" descr="nwp5"/>
            <p:cNvPicPr>
              <a:picLocks noChangeAspect="1"/>
            </p:cNvPicPr>
            <p:nvPr/>
          </p:nvPicPr>
          <p:blipFill>
            <a:blip r:embed="rId5"/>
            <a:srcRect l="47771" b="65065"/>
            <a:stretch>
              <a:fillRect/>
            </a:stretch>
          </p:blipFill>
          <p:spPr>
            <a:xfrm>
              <a:off x="1" y="7541"/>
              <a:ext cx="7521" cy="3773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1556" y="0"/>
              <a:ext cx="4905" cy="331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sz="11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PureLSTM</a:t>
              </a:r>
              <a:r>
                <a:rPr lang="zh-CN" altLang="en-US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误差时间分布模式</a:t>
              </a:r>
              <a:r>
                <a:rPr lang="en-US" altLang="zh-CN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前</a:t>
              </a:r>
              <a:r>
                <a:rPr lang="en-US" altLang="zh-CN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28</a:t>
              </a:r>
              <a:r>
                <a:rPr lang="zh-CN" altLang="en-US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天</a:t>
              </a:r>
              <a:r>
                <a:rPr lang="en-US" altLang="zh-CN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291" y="3742"/>
              <a:ext cx="4905" cy="319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sz="11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 FusionMode</a:t>
              </a:r>
              <a:r>
                <a:rPr lang="zh-CN" altLang="en-US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误差时间分布模式</a:t>
              </a:r>
              <a:r>
                <a:rPr lang="en-US" altLang="zh-CN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前</a:t>
              </a:r>
              <a:r>
                <a:rPr lang="en-US" altLang="zh-CN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28</a:t>
              </a:r>
              <a:r>
                <a:rPr lang="zh-CN" altLang="en-US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天</a:t>
              </a:r>
              <a:r>
                <a:rPr lang="en-US" altLang="zh-CN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77" y="7520"/>
              <a:ext cx="5219" cy="345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sz="11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BiFusionModel</a:t>
              </a:r>
              <a:r>
                <a:rPr lang="zh-CN" altLang="en-US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误差时间分布模式</a:t>
              </a:r>
              <a:r>
                <a:rPr lang="en-US" altLang="zh-CN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前</a:t>
              </a:r>
              <a:r>
                <a:rPr lang="en-US" altLang="zh-CN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28</a:t>
              </a:r>
              <a:r>
                <a:rPr lang="zh-CN" altLang="en-US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天</a:t>
              </a:r>
              <a:r>
                <a:rPr lang="en-US" altLang="zh-CN" sz="11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FusionModel模型-输入对比雷达图"/>
          <p:cNvPicPr>
            <a:picLocks noChangeAspect="1"/>
          </p:cNvPicPr>
          <p:nvPr/>
        </p:nvPicPr>
        <p:blipFill>
          <a:blip r:embed="rId3"/>
          <a:srcRect l="3157" t="10648" r="5074" b="10750"/>
          <a:stretch>
            <a:fillRect/>
          </a:stretch>
        </p:blipFill>
        <p:spPr>
          <a:xfrm>
            <a:off x="479425" y="0"/>
            <a:ext cx="3968115" cy="33985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0.0414342337052,&quot;left&quot;:58.95,&quot;top&quot;:1.4085657662947824,&quot;width&quot;:778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0.0414342337052,&quot;left&quot;:58.95,&quot;top&quot;:1.4085657662947824,&quot;width&quot;:778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0.0414342337052,&quot;left&quot;:58.95,&quot;top&quot;:1.4085657662947824,&quot;width&quot;:778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0.0414342337052,&quot;left&quot;:58.95,&quot;top&quot;:1.4085657662947824,&quot;width&quot;:778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0.0414342337052,&quot;left&quot;:58.95,&quot;top&quot;:1.4085657662947824,&quot;width&quot;:778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0.0414342337052,&quot;left&quot;:58.95,&quot;top&quot;:1.4085657662947824,&quot;width&quot;:778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0.0414342337052,&quot;left&quot;:58.95,&quot;top&quot;:1.4085657662947824,&quot;width&quot;:778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1.2,&quot;left&quot;:21.8,&quot;top&quot;:4.05,&quot;width&quot;:491.8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1.2,&quot;left&quot;:21.8,&quot;top&quot;:4.05,&quot;width&quot;:491.8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1.2,&quot;left&quot;:21.8,&quot;top&quot;:4.05,&quot;width&quot;:491.8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1.2,&quot;left&quot;:21.8,&quot;top&quot;:4.05,&quot;width&quot;:491.8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1.2,&quot;left&quot;:21.8,&quot;top&quot;:4.05,&quot;width&quot;:491.8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1.2,&quot;left&quot;:21.8,&quot;top&quot;:4.05,&quot;width&quot;:491.8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1.2,&quot;left&quot;:21.8,&quot;top&quot;:4.05,&quot;width&quot;:491.8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172</Words>
  <Application>Microsoft Office PowerPoint</Application>
  <PresentationFormat>宽屏</PresentationFormat>
  <Paragraphs>63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宋体</vt:lpstr>
      <vt:lpstr>Arial</vt:lpstr>
      <vt:lpstr>Times New Roman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子 王</cp:lastModifiedBy>
  <cp:revision>164</cp:revision>
  <dcterms:created xsi:type="dcterms:W3CDTF">2019-06-19T02:08:00Z</dcterms:created>
  <dcterms:modified xsi:type="dcterms:W3CDTF">2025-05-25T13:17:33Z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95C39F3482BA46408122EE7FD5351F45_11</vt:lpwstr>
  </property>
</Properties>
</file>